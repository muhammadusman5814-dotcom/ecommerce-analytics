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Share of revenue by region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revenue by region (%)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31.19</c:v>
                </c:pt>
                <c:pt idx="1">
                  <c:v>29.93</c:v>
                </c:pt>
                <c:pt idx="2">
                  <c:v>28.16</c:v>
                </c:pt>
                <c:pt idx="3">
                  <c:v>10.71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AF-4037-8C8D-4A9DCCDEC2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Revenue by payment method (M, dashboard)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payment method (M, dashboard)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UPI</c:v>
                </c:pt>
                <c:pt idx="1">
                  <c:v>Credit Card</c:v>
                </c:pt>
                <c:pt idx="2">
                  <c:v>Debit Card</c:v>
                </c:pt>
                <c:pt idx="3">
                  <c:v>COD</c:v>
                </c:pt>
                <c:pt idx="4">
                  <c:v>Net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61.32</c:v>
                </c:pt>
                <c:pt idx="1">
                  <c:v>45.08</c:v>
                </c:pt>
                <c:pt idx="2">
                  <c:v>26.96</c:v>
                </c:pt>
                <c:pt idx="3">
                  <c:v>24.15</c:v>
                </c:pt>
                <c:pt idx="4">
                  <c:v>18.440000000000001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A6-4D8C-9446-7158FBE1D66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Approx. margin by category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Approx. margin by category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Books</c:v>
                </c:pt>
                <c:pt idx="1">
                  <c:v>Electronics</c:v>
                </c:pt>
                <c:pt idx="2">
                  <c:v>Fashion</c:v>
                </c:pt>
                <c:pt idx="3">
                  <c:v>Home</c:v>
                </c:pt>
                <c:pt idx="4">
                  <c:v>Beauty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35</c:v>
                </c:pt>
                <c:pt idx="2">
                  <c:v>35</c:v>
                </c:pt>
                <c:pt idx="3">
                  <c:v>33</c:v>
                </c:pt>
                <c:pt idx="4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876-4AFF-8BE2-D0EA836A2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Selected months, revenue (M, 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Selected months, revenue (M, approx.)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Feb 2024</c:v>
                </c:pt>
                <c:pt idx="1">
                  <c:v>Jul 2024 (peak)</c:v>
                </c:pt>
                <c:pt idx="2">
                  <c:v>Feb 2025 (low)</c:v>
                </c:pt>
                <c:pt idx="3">
                  <c:v>Feb 2026</c:v>
                </c:pt>
                <c:pt idx="4">
                  <c:v>Jul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4.13</c:v>
                </c:pt>
                <c:pt idx="1">
                  <c:v>6.14</c:v>
                </c:pt>
                <c:pt idx="2">
                  <c:v>3.74</c:v>
                </c:pt>
                <c:pt idx="3">
                  <c:v>3.79</c:v>
                </c:pt>
                <c:pt idx="4">
                  <c:v>5.83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14-42C8-8719-6CC7B01C00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Revenue by category (M, 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category (M, approx.)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Home</c:v>
                </c:pt>
                <c:pt idx="1">
                  <c:v>Electronics</c:v>
                </c:pt>
                <c:pt idx="2">
                  <c:v>Fashion</c:v>
                </c:pt>
                <c:pt idx="3">
                  <c:v>Beauty</c:v>
                </c:pt>
                <c:pt idx="4">
                  <c:v>Books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41.7</c:v>
                </c:pt>
                <c:pt idx="1">
                  <c:v>39.4</c:v>
                </c:pt>
                <c:pt idx="2">
                  <c:v>30.5</c:v>
                </c:pt>
                <c:pt idx="3">
                  <c:v>24.9</c:v>
                </c:pt>
                <c:pt idx="4">
                  <c:v>16.600000000000001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F5-4B25-8C4F-FA0EB6AC0B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4B"/>
                </a:solidFill>
                <a:latin typeface="Arial"/>
              </a:rPr>
              <a:t>Revenue by region (M, 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by region (M, approx.)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47.8</c:v>
                </c:pt>
                <c:pt idx="1">
                  <c:v>45.9</c:v>
                </c:pt>
                <c:pt idx="2">
                  <c:v>43.2</c:v>
                </c:pt>
                <c:pt idx="3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F9-4936-B148-5B4E6AA7385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997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PERFORMANCE 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growth and profit are really coming from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briefing for the CEO, CMO and CFO · Jan 2024 – Jul 2026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297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insights that tell the story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310896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and stable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is 34.26% and holds at about 33%–35.5% every month. Profit rises and falls with sales volume.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10896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is far behind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0312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earns 10.71% of revenue vs 28%–31% elsewhere, at a similar ≈35% margin. Volume is the gap.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310896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discounts hurt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0312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profit correlation is −0.24. Losses appear only at 20% and 25% discounts.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310896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fixable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03120"/>
            <a:ext cx="1645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58% of returns are late delivery, damage or wrong product.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at a glance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KPIs, Jan 2024 – Jul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153.31M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21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52.52M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221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5544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34.26%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2219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13.98K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76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transaction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91840" y="292608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4.386K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3776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2926080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10896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7764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(unit not stated)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cost, customer-count, growth or marketing-spend KPIs exist in the source data.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en-US" sz="2400" b="1" dirty="0" smtClean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verall </a:t>
            </a: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margin, flat volume, one weak region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402336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28016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35331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well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34.26% margin; Home and Electronics ≈53% of revenue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205740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00600" y="213055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growing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stays ≈3.7M–6.1M; no steady rise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28346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943600" y="2907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10.71% of revenue at ≈35% margin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6118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00600" y="36850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0" y="3685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of 20%–25% are the only loss-making cases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Profit grows with volume, so East and sales growth are the levers.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0112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products and markets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attention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4389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1280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is the priority market: 10.71% of revenue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Electronics lead; Bedsheet is the top product (≈10.7M on the dashboard)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are smallest (≈16.6M) but have the highest margin (≈38%)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and credit card ≈60% of orders; COD ≈14%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low East volume are not in the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Direct marketing effort to East, Home/Electronics and UPI-led checkout.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400" b="1" dirty="0" smtClean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inancial </a:t>
            </a: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are healthy and even; cost data is missing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43891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937760" y="1280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generated: South ≈16.5M and West ≈15.6M of 52.52M profit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East ≈5.7M profit; Beauty has the lowest margin (≈31%)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Discounts: profit per order falls at every step (max ≈31K at 0% to ≈16.5K at 25%)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margins are read from charts (±1 point)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cost or expense data, so no cost analysis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Improve profit through volume and discount control, not margin repair.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trend: monthly revenue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around a stable band, with a repeating February 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51206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669280" y="1371600"/>
            <a:ext cx="3017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rise or fall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is lowest in all three years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strong; July 2026 is second highest overall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rests on only 2–3 observations per month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Plan stock and campaigns around February and the June–July peak.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category performance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and Books stand out in opposite 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8872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572000" y="1188720"/>
          <a:ext cx="42062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4434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East has about one third of any other region’s revenue.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areas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under-performance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10.71% of revenue vs 28%–31% elsewhere. Large share of potential volume untapped.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417320"/>
            <a:ext cx="457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discounts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20% and 25% levels show losses; correlation with profit −0.24. No sign discounts raise sales.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17320"/>
            <a:ext cx="457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returns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≈58% of ≈681 returns: late delivery, damaged, wrong product. Affects cost and satisfaction.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consistency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≈15% above KPI totals; verify before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opportunities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evidence and potential impact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Grow East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already ≈35%, so extra volume converts to profit.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417320"/>
            <a:ext cx="457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Back Home and Electronics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≈53% of revenue and highest profits.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17320"/>
            <a:ext cx="457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Fix fulfilment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≈58% of returns are operational.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Lift Books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margin (≈38%), smallest revenue.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→ Reason → Expected benefit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53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targeted East campaign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3533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East is 10.71% of revenue at a similar margin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volume at existing margin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1305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20% and 25% discounts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130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Only loss-making levels; lower profit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Fewer loss-making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077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packaging, order checks, delivery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2907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≈58% of returns are fulfilment-related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9077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Fewer returns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11880"/>
            <a:ext cx="8229600" cy="685800"/>
          </a:xfrm>
          <a:prstGeom prst="roundRect">
            <a:avLst>
              <a:gd name="adj" fmla="val 666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85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Home and Electronics stock and promotion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36850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≈53% of revenue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85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Protect the core earners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matrix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first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reason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 20%/25% discounts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loss-making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Investigate and pilot East 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10.71% of revenue, margin ≈35%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 fulfilment-driven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≈58% of 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Prioritise Home and Electronics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≈53% of revenue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Beauty pricing; grow Books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 ≈31% margin; Books ≈38%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required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management should decide next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 East pilot and a cap on 20%/25% discounts.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9748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East: 10.71% of revenue at ≈35% margin. Deep discounts: only losses, −0.24 correlation with profit.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2857"/>
            </a:avLst>
          </a:prstGeom>
          <a:solidFill>
            <a:srgbClr val="EEF2FA"/>
          </a:solidFill>
          <a:ln w="12700">
            <a:solidFill>
              <a:srgbClr val="EEF2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720" y="1417320"/>
            <a:ext cx="4572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5544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103120"/>
            <a:ext cx="1645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volume at existing margin; fewer loss-making orders. Size not quantifiable from the data.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takeaway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happening?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46304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 at a stable 34.26% margin, but volume is flat and East lags.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follows volume; deep discounts and returns leak value.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73152" cy="9144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we do?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8404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East, cap deep discounts, fix fulfilment.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1022</Words>
  <Application>Microsoft Office PowerPoint</Application>
  <PresentationFormat>On-screen Show (16:9)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Business Analytics</dc:title>
  <dc:subject>PptxGenJS Presentation</dc:subject>
  <dc:creator>PptxGenJS</dc:creator>
  <cp:lastModifiedBy>muhammad usman</cp:lastModifiedBy>
  <cp:revision>2</cp:revision>
  <dcterms:created xsi:type="dcterms:W3CDTF">2026-10-07T17:49:12Z</dcterms:created>
  <dcterms:modified xsi:type="dcterms:W3CDTF">2026-10-07T17:51:12Z</dcterms:modified>
</cp:coreProperties>
</file>